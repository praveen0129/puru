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66" r:id="rId5"/>
    <p:sldId id="259" r:id="rId6"/>
    <p:sldId id="260" r:id="rId7"/>
    <p:sldId id="261" r:id="rId8"/>
    <p:sldId id="262" r:id="rId9"/>
    <p:sldId id="263" r:id="rId10"/>
    <p:sldId id="264" r:id="rId11"/>
    <p:sldId id="265" r:id="rId12"/>
  </p:sldIdLst>
  <p:sldSz cx="18288000" cy="10287000"/>
  <p:notesSz cx="6858000" cy="9144000"/>
  <p:embeddedFontLst>
    <p:embeddedFont>
      <p:font typeface="Arial Rounded MT Bold" panose="020F0704030504030204" pitchFamily="34" charset="0"/>
      <p:regular r:id="rId14"/>
    </p:embeddedFont>
    <p:embeddedFont>
      <p:font typeface="Century Gothic Paneuropean" panose="020B0604020202020204" charset="0"/>
      <p:regular r:id="rId15"/>
    </p:embeddedFont>
    <p:embeddedFont>
      <p:font typeface="Century Gothic Paneuropean Bold" panose="020B0604020202020204" charset="0"/>
      <p:regular r:id="rId16"/>
    </p:embeddedFont>
    <p:embeddedFont>
      <p:font typeface="Gotham" panose="020B0604020202020204" charset="0"/>
      <p:regular r:id="rId17"/>
    </p:embeddedFont>
    <p:embeddedFont>
      <p:font typeface="Gotham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3958333333333334E-2"/>
          <c:y val="0.13205782798004587"/>
          <c:w val="0.8520833333333333"/>
          <c:h val="0.75156901339819082"/>
        </c:manualLayout>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E6BD-4BED-BD38-796369FB57B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2-E6BD-4BED-BD38-796369FB57B6}"/>
              </c:ext>
            </c:extLst>
          </c:dPt>
          <c:dLbls>
            <c:dLbl>
              <c:idx val="0"/>
              <c:layout>
                <c:manualLayout>
                  <c:x val="-9.4791666666666663E-2"/>
                  <c:y val="-0.20537441735116632"/>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fld id="{0CA28E0F-8F8B-417D-8BD9-02CC87996217}" type="VALUE">
                      <a:rPr lang="en-US" sz="3200" smtClean="0"/>
                      <a:pPr>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9322916666666669E-2"/>
                      <c:h val="8.8020425430279131E-2"/>
                    </c:manualLayout>
                  </c15:layout>
                  <c15:dlblFieldTable/>
                  <c15:showDataLabelsRange val="0"/>
                </c:ext>
                <c:ext xmlns:c16="http://schemas.microsoft.com/office/drawing/2014/chart" uri="{C3380CC4-5D6E-409C-BE32-E72D297353CC}">
                  <c16:uniqueId val="{00000001-E6BD-4BED-BD38-796369FB57B6}"/>
                </c:ext>
              </c:extLst>
            </c:dLbl>
            <c:dLbl>
              <c:idx val="1"/>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fld id="{F2A07F99-D6BF-4277-97AD-A20C8D825298}" type="VALUE">
                      <a:rPr lang="en-US" sz="2800"/>
                      <a:pPr>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6875000000000003E-2"/>
                      <c:h val="0.1222976103334167"/>
                    </c:manualLayout>
                  </c15:layout>
                  <c15:dlblFieldTable/>
                  <c15:showDataLabelsRange val="0"/>
                </c:ext>
                <c:ext xmlns:c16="http://schemas.microsoft.com/office/drawing/2014/chart" uri="{C3380CC4-5D6E-409C-BE32-E72D297353CC}">
                  <c16:uniqueId val="{00000002-E6BD-4BED-BD38-796369FB57B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2"/>
                <c:pt idx="0">
                  <c:v>no.of people using fuel vehicals</c:v>
                </c:pt>
                <c:pt idx="1">
                  <c:v>no.of people using cng vehicals</c:v>
                </c:pt>
              </c:strCache>
              <c:extLst/>
            </c:strRef>
          </c:cat>
          <c:val>
            <c:numRef>
              <c:f>Sheet1!$B$2:$B$5</c:f>
              <c:numCache>
                <c:formatCode>General</c:formatCode>
                <c:ptCount val="2"/>
                <c:pt idx="0">
                  <c:v>31</c:v>
                </c:pt>
                <c:pt idx="1">
                  <c:v>19</c:v>
                </c:pt>
              </c:numCache>
              <c:extLst/>
            </c:numRef>
          </c:val>
          <c:extLst>
            <c:ext xmlns:c16="http://schemas.microsoft.com/office/drawing/2014/chart" uri="{C3380CC4-5D6E-409C-BE32-E72D297353CC}">
              <c16:uniqueId val="{00000000-E6BD-4BED-BD38-796369FB57B6}"/>
            </c:ext>
          </c:extLst>
        </c:ser>
        <c:dLbls>
          <c:showLegendKey val="0"/>
          <c:showVal val="0"/>
          <c:showCatName val="0"/>
          <c:showSerName val="0"/>
          <c:showPercent val="0"/>
          <c:showBubbleSize val="0"/>
          <c:showLeaderLines val="1"/>
        </c:dLbls>
      </c:pie3DChart>
      <c:spPr>
        <a:noFill/>
        <a:ln>
          <a:noFill/>
        </a:ln>
        <a:effectLst/>
      </c:spPr>
    </c:plotArea>
    <c:legend>
      <c:legendPos val="b"/>
      <c:layout>
        <c:manualLayout>
          <c:xMode val="edge"/>
          <c:yMode val="edge"/>
          <c:x val="0.20603781167978999"/>
          <c:y val="0.89088186230108102"/>
          <c:w val="0.5618826279527559"/>
          <c:h val="0.1057327367208313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8F94A7-58F2-4612-9257-F8712AD6E36C}" type="datetimeFigureOut">
              <a:rPr lang="en-US" smtClean="0"/>
              <a:t>5/24/2025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D64C2-A8F9-4832-B129-FE3CD63744FB}" type="slidenum">
              <a:rPr lang="en-US" smtClean="0"/>
              <a:t>‹#›</a:t>
            </a:fld>
            <a:endParaRPr lang="en-US"/>
          </a:p>
        </p:txBody>
      </p:sp>
    </p:spTree>
    <p:extLst>
      <p:ext uri="{BB962C8B-B14F-4D97-AF65-F5344CB8AC3E}">
        <p14:creationId xmlns:p14="http://schemas.microsoft.com/office/powerpoint/2010/main" val="8488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D64C2-A8F9-4832-B129-FE3CD63744FB}" type="slidenum">
              <a:rPr lang="en-US" smtClean="0"/>
              <a:t>2</a:t>
            </a:fld>
            <a:endParaRPr lang="en-US"/>
          </a:p>
        </p:txBody>
      </p:sp>
    </p:spTree>
    <p:extLst>
      <p:ext uri="{BB962C8B-B14F-4D97-AF65-F5344CB8AC3E}">
        <p14:creationId xmlns:p14="http://schemas.microsoft.com/office/powerpoint/2010/main" val="3214512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72147" y="1663343"/>
            <a:ext cx="16743706" cy="2688837"/>
          </a:xfrm>
          <a:prstGeom prst="rect">
            <a:avLst/>
          </a:prstGeom>
        </p:spPr>
        <p:txBody>
          <a:bodyPr lIns="0" tIns="0" rIns="0" bIns="0" rtlCol="0" anchor="t">
            <a:spAutoFit/>
          </a:bodyPr>
          <a:lstStyle/>
          <a:p>
            <a:pPr algn="ctr">
              <a:lnSpc>
                <a:spcPts val="10871"/>
              </a:lnSpc>
            </a:pPr>
            <a:r>
              <a:rPr lang="en-US" sz="7765" dirty="0">
                <a:solidFill>
                  <a:srgbClr val="949393"/>
                </a:solidFill>
                <a:latin typeface="Century Gothic Paneuropean"/>
                <a:ea typeface="Century Gothic Paneuropean"/>
                <a:cs typeface="Century Gothic Paneuropean"/>
                <a:sym typeface="Century Gothic Paneuropean"/>
              </a:rPr>
              <a:t>GEETHANJALI INSTITUTE OF SCIENCE AND TECHNOLOGY</a:t>
            </a:r>
          </a:p>
        </p:txBody>
      </p:sp>
      <p:sp>
        <p:nvSpPr>
          <p:cNvPr id="3" name="TextBox 3"/>
          <p:cNvSpPr txBox="1"/>
          <p:nvPr/>
        </p:nvSpPr>
        <p:spPr>
          <a:xfrm>
            <a:off x="1833687" y="4680542"/>
            <a:ext cx="14620626" cy="2108526"/>
          </a:xfrm>
          <a:prstGeom prst="rect">
            <a:avLst/>
          </a:prstGeom>
        </p:spPr>
        <p:txBody>
          <a:bodyPr lIns="0" tIns="0" rIns="0" bIns="0" rtlCol="0" anchor="t">
            <a:spAutoFit/>
          </a:bodyPr>
          <a:lstStyle/>
          <a:p>
            <a:pPr algn="ctr">
              <a:lnSpc>
                <a:spcPts val="8642"/>
              </a:lnSpc>
            </a:pPr>
            <a:r>
              <a:rPr lang="en-US" sz="5400" b="1" dirty="0">
                <a:solidFill>
                  <a:srgbClr val="000000"/>
                </a:solidFill>
                <a:latin typeface="Century Gothic Paneuropean Bold"/>
                <a:ea typeface="Century Gothic Paneuropean Bold"/>
                <a:cs typeface="Century Gothic Paneuropean Bold"/>
                <a:sym typeface="Century Gothic Paneuropean Bold"/>
              </a:rPr>
              <a:t>IDENTIFICATION OF PEOPLE WHO ARE USING FUEL AND CNG AUTORICKSHAWS</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2703323" y="7228840"/>
            <a:ext cx="12881354" cy="514349"/>
          </a:xfrm>
          <a:prstGeom prst="rect">
            <a:avLst/>
          </a:prstGeom>
        </p:spPr>
        <p:txBody>
          <a:bodyPr lIns="0" tIns="0" rIns="0" bIns="0" rtlCol="0" anchor="t">
            <a:spAutoFit/>
          </a:bodyPr>
          <a:lstStyle/>
          <a:p>
            <a:pPr algn="ctr">
              <a:lnSpc>
                <a:spcPts val="4200"/>
              </a:lnSpc>
            </a:pPr>
            <a:r>
              <a:rPr lang="en-US" sz="3000">
                <a:solidFill>
                  <a:srgbClr val="949393"/>
                </a:solidFill>
                <a:latin typeface="Century Gothic Paneuropean"/>
                <a:ea typeface="Century Gothic Paneuropean"/>
                <a:cs typeface="Century Gothic Paneuropean"/>
                <a:sym typeface="Century Gothic Paneuropean"/>
              </a:rPr>
              <a:t>DEPARTMENT OF ARTIFIACIAL INTELLIGENCE AND MACHINE LEARNING</a:t>
            </a:r>
          </a:p>
        </p:txBody>
      </p:sp>
      <p:sp>
        <p:nvSpPr>
          <p:cNvPr id="16" name="AutoShape 16"/>
          <p:cNvSpPr/>
          <p:nvPr/>
        </p:nvSpPr>
        <p:spPr>
          <a:xfrm>
            <a:off x="5115792" y="7762238"/>
            <a:ext cx="8056416" cy="0"/>
          </a:xfrm>
          <a:prstGeom prst="line">
            <a:avLst/>
          </a:prstGeom>
          <a:ln w="66675" cap="flat">
            <a:solidFill>
              <a:srgbClr val="000000"/>
            </a:solidFill>
            <a:prstDash val="solid"/>
            <a:headEnd type="none" w="sm" len="sm"/>
            <a:tailEnd type="none" w="sm" len="sm"/>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6608759" y="246918"/>
            <a:ext cx="5070482" cy="1377949"/>
          </a:xfrm>
          <a:prstGeom prst="rect">
            <a:avLst/>
          </a:prstGeom>
        </p:spPr>
        <p:txBody>
          <a:bodyPr lIns="0" tIns="0" rIns="0" bIns="0" rtlCol="0" anchor="t">
            <a:spAutoFit/>
          </a:bodyPr>
          <a:lstStyle/>
          <a:p>
            <a:pPr algn="ctr">
              <a:lnSpc>
                <a:spcPts val="11200"/>
              </a:lnSpc>
            </a:pPr>
            <a:r>
              <a:rPr lang="en-US" sz="8000" b="1">
                <a:solidFill>
                  <a:srgbClr val="000000"/>
                </a:solidFill>
                <a:latin typeface="Century Gothic Paneuropean Bold"/>
                <a:ea typeface="Century Gothic Paneuropean Bold"/>
                <a:cs typeface="Century Gothic Paneuropean Bold"/>
                <a:sym typeface="Century Gothic Paneuropean Bold"/>
              </a:rPr>
              <a:t>ABSTRACT</a:t>
            </a:r>
          </a:p>
        </p:txBody>
      </p:sp>
      <p:sp>
        <p:nvSpPr>
          <p:cNvPr id="9" name="TextBox 9"/>
          <p:cNvSpPr txBox="1"/>
          <p:nvPr/>
        </p:nvSpPr>
        <p:spPr>
          <a:xfrm>
            <a:off x="1569057" y="1473483"/>
            <a:ext cx="15149885" cy="8874224"/>
          </a:xfrm>
          <a:prstGeom prst="rect">
            <a:avLst/>
          </a:prstGeom>
        </p:spPr>
        <p:txBody>
          <a:bodyPr lIns="0" tIns="0" rIns="0" bIns="0" rtlCol="0" anchor="t">
            <a:spAutoFit/>
          </a:bodyPr>
          <a:lstStyle/>
          <a:p>
            <a:pPr marL="0" marR="356235" algn="just">
              <a:lnSpc>
                <a:spcPct val="150000"/>
              </a:lnSpc>
              <a:spcBef>
                <a:spcPts val="50"/>
              </a:spcBef>
              <a:buNone/>
            </a:pPr>
            <a:r>
              <a:rPr lang="en-US" sz="3600" dirty="0">
                <a:solidFill>
                  <a:srgbClr val="4472C4"/>
                </a:solidFill>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marR="356235" algn="just">
              <a:lnSpc>
                <a:spcPct val="150000"/>
              </a:lnSpc>
              <a:spcBef>
                <a:spcPts val="50"/>
              </a:spcBef>
            </a:pPr>
            <a:r>
              <a:rPr lang="en-US" sz="3600" dirty="0">
                <a:solidFill>
                  <a:schemeClr val="tx2">
                    <a:lumMod val="75000"/>
                  </a:schemeClr>
                </a:solidFill>
                <a:effectLst/>
                <a:latin typeface="Times New Roman" panose="02020603050405020304" pitchFamily="18" charset="0"/>
                <a:ea typeface="Times New Roman" panose="02020603050405020304" pitchFamily="18" charset="0"/>
              </a:rPr>
              <a:t>This is the survey conducted to identify the people who are using CNG and FUEL Autorickshaws in a particular area. For this survey we selected </a:t>
            </a:r>
            <a:r>
              <a:rPr lang="en-US" sz="3600" dirty="0">
                <a:solidFill>
                  <a:schemeClr val="tx2">
                    <a:lumMod val="75000"/>
                  </a:schemeClr>
                </a:solidFill>
                <a:latin typeface="Times New Roman" panose="02020603050405020304" pitchFamily="18" charset="0"/>
                <a:ea typeface="Times New Roman" panose="02020603050405020304" pitchFamily="18" charset="0"/>
              </a:rPr>
              <a:t>at</a:t>
            </a:r>
            <a:r>
              <a:rPr lang="en-US" sz="3600" dirty="0">
                <a:solidFill>
                  <a:schemeClr val="tx2">
                    <a:lumMod val="75000"/>
                  </a:schemeClr>
                </a:solidFill>
                <a:effectLst/>
                <a:latin typeface="Times New Roman" panose="02020603050405020304" pitchFamily="18" charset="0"/>
                <a:ea typeface="Times New Roman" panose="02020603050405020304" pitchFamily="18" charset="0"/>
              </a:rPr>
              <a:t> area,</a:t>
            </a:r>
            <a: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kern="100" dirty="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rPr>
              <a:t>ATHMAKUR BUSTAND</a:t>
            </a:r>
            <a:r>
              <a:rPr lang="en-US" sz="3200" dirty="0">
                <a:solidFill>
                  <a:schemeClr val="tx2"/>
                </a:solidFill>
                <a:effectLst/>
                <a:latin typeface="Times New Roman" panose="02020603050405020304" pitchFamily="18" charset="0"/>
                <a:ea typeface="Times New Roman" panose="02020603050405020304" pitchFamily="18" charset="0"/>
              </a:rPr>
              <a:t>SPSR </a:t>
            </a:r>
            <a:r>
              <a:rPr lang="en-US" sz="3600" dirty="0">
                <a:solidFill>
                  <a:schemeClr val="tx2">
                    <a:lumMod val="75000"/>
                  </a:schemeClr>
                </a:solidFill>
                <a:effectLst/>
                <a:latin typeface="Times New Roman" panose="02020603050405020304" pitchFamily="18" charset="0"/>
                <a:ea typeface="Times New Roman" panose="02020603050405020304" pitchFamily="18" charset="0"/>
              </a:rPr>
              <a:t>Nellore District. This survey is mainly conducted to </a:t>
            </a:r>
            <a:r>
              <a:rPr lang="en-US" sz="3600" dirty="0" err="1">
                <a:solidFill>
                  <a:schemeClr val="tx2">
                    <a:lumMod val="75000"/>
                  </a:schemeClr>
                </a:solidFill>
                <a:effectLst/>
                <a:latin typeface="Times New Roman" panose="02020603050405020304" pitchFamily="18" charset="0"/>
                <a:ea typeface="Times New Roman" panose="02020603050405020304" pitchFamily="18" charset="0"/>
              </a:rPr>
              <a:t>analyse</a:t>
            </a:r>
            <a:r>
              <a:rPr lang="en-US" sz="3600" dirty="0">
                <a:solidFill>
                  <a:schemeClr val="tx2">
                    <a:lumMod val="75000"/>
                  </a:schemeClr>
                </a:solidFill>
                <a:effectLst/>
                <a:latin typeface="Times New Roman" panose="02020603050405020304" pitchFamily="18" charset="0"/>
                <a:ea typeface="Times New Roman" panose="02020603050405020304" pitchFamily="18" charset="0"/>
              </a:rPr>
              <a:t> the people who are using CNG and FUEL , there are so many number of people using CNG and FUEL in particular area, some people are not using Autorickshaws due to some reasons, In this survey have main two type of Autorickshaws using in particular area . So, with this survey we collected the information about who are using CNG and FUEL Autorickshaws people in a particular area.</a:t>
            </a:r>
            <a:endParaRPr lang="en-US" sz="3600" dirty="0">
              <a:solidFill>
                <a:schemeClr val="tx2">
                  <a:lumMod val="75000"/>
                </a:schemeClr>
              </a:solidFill>
              <a:effectLst/>
              <a:latin typeface="Calibri" panose="020F0502020204030204" pitchFamily="34" charset="0"/>
              <a:ea typeface="Calibri" panose="020F0502020204030204" pitchFamily="34" charset="0"/>
            </a:endParaRPr>
          </a:p>
          <a:p>
            <a:pPr algn="just">
              <a:lnSpc>
                <a:spcPts val="4200"/>
              </a:lnSpc>
            </a:pPr>
            <a:endParaRPr lang="en-US" sz="3600" dirty="0">
              <a:solidFill>
                <a:srgbClr val="949393"/>
              </a:solidFill>
              <a:latin typeface="Gotham"/>
              <a:ea typeface="Gotham"/>
              <a:cs typeface="Gotham"/>
              <a:sym typeface="Gotham"/>
            </a:endParaRP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5176863" y="335400"/>
            <a:ext cx="7934274" cy="1392115"/>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INTRODUCTION</a:t>
            </a:r>
          </a:p>
        </p:txBody>
      </p:sp>
      <p:sp>
        <p:nvSpPr>
          <p:cNvPr id="9" name="TextBox 9"/>
          <p:cNvSpPr txBox="1"/>
          <p:nvPr/>
        </p:nvSpPr>
        <p:spPr>
          <a:xfrm>
            <a:off x="1569057" y="2803840"/>
            <a:ext cx="15149885" cy="6117059"/>
          </a:xfrm>
          <a:prstGeom prst="rect">
            <a:avLst/>
          </a:prstGeom>
        </p:spPr>
        <p:txBody>
          <a:bodyPr lIns="0" tIns="0" rIns="0" bIns="0" rtlCol="0" anchor="t">
            <a:spAutoFit/>
          </a:bodyPr>
          <a:lstStyle/>
          <a:p>
            <a:pPr marL="0" marR="0" algn="just">
              <a:spcBef>
                <a:spcPts val="50"/>
              </a:spcBef>
              <a:buNone/>
            </a:pPr>
            <a:r>
              <a:rPr lang="en-US" sz="3600" dirty="0">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marL="0" marR="0" algn="just">
              <a:spcBef>
                <a:spcPts val="50"/>
              </a:spcBef>
              <a:buNone/>
            </a:pPr>
            <a:r>
              <a:rPr lang="en-US" sz="3600" dirty="0">
                <a:effectLst/>
                <a:latin typeface="Times New Roman" panose="02020603050405020304" pitchFamily="18" charset="0"/>
                <a:ea typeface="Times New Roman" panose="02020603050405020304" pitchFamily="18" charset="0"/>
              </a:rPr>
              <a:t>CNG (Compressed Natural Gas) is primarily used as fuel in auto rickshaws as a cleaner and more environmentally friendly alternative to petrol, offering significant reductions in emissions while still being cost-effective, making it a popular choice for urban transportation, especially in areas with high traffic density where air pollution is a concern; essentially, CNG auto rickshaws are used for short-distance passenger transport within cities, providing a relatively clean and affordable option compared to other vehicles.</a:t>
            </a:r>
            <a:endParaRPr lang="en-US" sz="3600" dirty="0">
              <a:effectLst/>
              <a:latin typeface="Calibri" panose="020F0502020204030204" pitchFamily="34" charset="0"/>
              <a:ea typeface="Calibri" panose="020F0502020204030204" pitchFamily="34" charset="0"/>
            </a:endParaRPr>
          </a:p>
          <a:p>
            <a:pPr marL="0" marR="0" algn="just">
              <a:spcBef>
                <a:spcPts val="50"/>
              </a:spcBef>
              <a:buNone/>
            </a:pPr>
            <a:r>
              <a:rPr lang="en-US" sz="3600" dirty="0">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marL="0" marR="0">
              <a:spcBef>
                <a:spcPts val="50"/>
              </a:spcBef>
            </a:pPr>
            <a:r>
              <a:rPr lang="en-US" sz="3600" dirty="0">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algn="just">
              <a:lnSpc>
                <a:spcPts val="4200"/>
              </a:lnSpc>
            </a:pPr>
            <a:endParaRPr lang="en-US" sz="3600" dirty="0">
              <a:solidFill>
                <a:srgbClr val="949393"/>
              </a:solidFill>
              <a:latin typeface="Gotham"/>
              <a:ea typeface="Gotham"/>
              <a:cs typeface="Gotham"/>
              <a:sym typeface="Gotham"/>
            </a:endParaRP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132AA-DA00-3F2C-04A3-6E17C3255E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AAF078B-4551-1321-6AAB-34411FF9AE91}"/>
              </a:ext>
            </a:extLst>
          </p:cNvPr>
          <p:cNvGrpSpPr/>
          <p:nvPr/>
        </p:nvGrpSpPr>
        <p:grpSpPr>
          <a:xfrm>
            <a:off x="16718943" y="-989670"/>
            <a:ext cx="1080715" cy="2956684"/>
            <a:chOff x="0" y="0"/>
            <a:chExt cx="284633" cy="778715"/>
          </a:xfrm>
        </p:grpSpPr>
        <p:sp>
          <p:nvSpPr>
            <p:cNvPr id="3" name="Freeform 3">
              <a:extLst>
                <a:ext uri="{FF2B5EF4-FFF2-40B4-BE49-F238E27FC236}">
                  <a16:creationId xmlns:a16="http://schemas.microsoft.com/office/drawing/2014/main" id="{5A36B59B-C6AF-C6CF-D8AF-2511CF2E7EC5}"/>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a:extLst>
                <a:ext uri="{FF2B5EF4-FFF2-40B4-BE49-F238E27FC236}">
                  <a16:creationId xmlns:a16="http://schemas.microsoft.com/office/drawing/2014/main" id="{4152151B-079B-6560-B1E1-712DD2166EB4}"/>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B4C3D9A-EFDC-5817-B878-CB1F87DE7D81}"/>
              </a:ext>
            </a:extLst>
          </p:cNvPr>
          <p:cNvGrpSpPr/>
          <p:nvPr/>
        </p:nvGrpSpPr>
        <p:grpSpPr>
          <a:xfrm>
            <a:off x="-529352" y="9803843"/>
            <a:ext cx="19346704" cy="821917"/>
            <a:chOff x="0" y="0"/>
            <a:chExt cx="5095428" cy="216472"/>
          </a:xfrm>
        </p:grpSpPr>
        <p:sp>
          <p:nvSpPr>
            <p:cNvPr id="6" name="Freeform 6">
              <a:extLst>
                <a:ext uri="{FF2B5EF4-FFF2-40B4-BE49-F238E27FC236}">
                  <a16:creationId xmlns:a16="http://schemas.microsoft.com/office/drawing/2014/main" id="{FA3A639E-CE55-8EF5-F25A-6B2375DBFE96}"/>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a:extLst>
                <a:ext uri="{FF2B5EF4-FFF2-40B4-BE49-F238E27FC236}">
                  <a16:creationId xmlns:a16="http://schemas.microsoft.com/office/drawing/2014/main" id="{D0843704-46AF-3AD6-56E4-A4DD258B36CA}"/>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0F6C4FCD-5FFD-5C4B-19DA-0F4A153239E7}"/>
              </a:ext>
            </a:extLst>
          </p:cNvPr>
          <p:cNvSpPr txBox="1"/>
          <p:nvPr/>
        </p:nvSpPr>
        <p:spPr>
          <a:xfrm>
            <a:off x="1569057" y="2803840"/>
            <a:ext cx="15149885" cy="1659429"/>
          </a:xfrm>
          <a:prstGeom prst="rect">
            <a:avLst/>
          </a:prstGeom>
        </p:spPr>
        <p:txBody>
          <a:bodyPr lIns="0" tIns="0" rIns="0" bIns="0" rtlCol="0" anchor="t">
            <a:spAutoFit/>
          </a:bodyPr>
          <a:lstStyle/>
          <a:p>
            <a:pPr marL="0" marR="0" algn="just">
              <a:spcBef>
                <a:spcPts val="50"/>
              </a:spcBef>
              <a:buNone/>
            </a:pPr>
            <a:r>
              <a:rPr lang="en-US" sz="3600" dirty="0">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marL="0" marR="0">
              <a:spcBef>
                <a:spcPts val="50"/>
              </a:spcBef>
            </a:pPr>
            <a:r>
              <a:rPr lang="en-US" sz="3600" dirty="0">
                <a:effectLst/>
                <a:latin typeface="Times New Roman" panose="02020603050405020304" pitchFamily="18" charset="0"/>
                <a:ea typeface="Times New Roman" panose="02020603050405020304" pitchFamily="18" charset="0"/>
              </a:rPr>
              <a:t> </a:t>
            </a:r>
            <a:endParaRPr lang="en-US" sz="3600" dirty="0">
              <a:effectLst/>
              <a:latin typeface="Calibri" panose="020F0502020204030204" pitchFamily="34" charset="0"/>
              <a:ea typeface="Calibri" panose="020F0502020204030204" pitchFamily="34" charset="0"/>
            </a:endParaRPr>
          </a:p>
          <a:p>
            <a:pPr algn="just">
              <a:lnSpc>
                <a:spcPts val="4200"/>
              </a:lnSpc>
            </a:pPr>
            <a:endParaRPr lang="en-US" sz="3600" dirty="0">
              <a:solidFill>
                <a:srgbClr val="949393"/>
              </a:solidFill>
              <a:latin typeface="Gotham"/>
              <a:ea typeface="Gotham"/>
              <a:cs typeface="Gotham"/>
              <a:sym typeface="Gotham"/>
            </a:endParaRPr>
          </a:p>
        </p:txBody>
      </p:sp>
      <p:sp>
        <p:nvSpPr>
          <p:cNvPr id="10" name="Freeform 10">
            <a:extLst>
              <a:ext uri="{FF2B5EF4-FFF2-40B4-BE49-F238E27FC236}">
                <a16:creationId xmlns:a16="http://schemas.microsoft.com/office/drawing/2014/main" id="{65E81118-BEE3-1E91-DBA2-2160C527999C}"/>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90C48BDA-C01C-7F31-00C0-FA2DBBCB0AB7}"/>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a:extLst>
              <a:ext uri="{FF2B5EF4-FFF2-40B4-BE49-F238E27FC236}">
                <a16:creationId xmlns:a16="http://schemas.microsoft.com/office/drawing/2014/main" id="{1BF77AE0-3344-B0B4-A776-8FA965BCBE3F}"/>
              </a:ext>
            </a:extLst>
          </p:cNvPr>
          <p:cNvGrpSpPr/>
          <p:nvPr/>
        </p:nvGrpSpPr>
        <p:grpSpPr>
          <a:xfrm>
            <a:off x="488343" y="-989670"/>
            <a:ext cx="1080715" cy="2956684"/>
            <a:chOff x="0" y="0"/>
            <a:chExt cx="284633" cy="778715"/>
          </a:xfrm>
        </p:grpSpPr>
        <p:sp>
          <p:nvSpPr>
            <p:cNvPr id="13" name="Freeform 13">
              <a:extLst>
                <a:ext uri="{FF2B5EF4-FFF2-40B4-BE49-F238E27FC236}">
                  <a16:creationId xmlns:a16="http://schemas.microsoft.com/office/drawing/2014/main" id="{C3E1E998-6530-E7BA-1667-464C9B3C8E9B}"/>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a:extLst>
                <a:ext uri="{FF2B5EF4-FFF2-40B4-BE49-F238E27FC236}">
                  <a16:creationId xmlns:a16="http://schemas.microsoft.com/office/drawing/2014/main" id="{69136920-348B-EC75-F14D-726D43310F4A}"/>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B0BF59A5-E0D8-B367-C92A-E5B61E9DB107}"/>
              </a:ext>
            </a:extLst>
          </p:cNvPr>
          <p:cNvSpPr txBox="1"/>
          <p:nvPr/>
        </p:nvSpPr>
        <p:spPr>
          <a:xfrm>
            <a:off x="2590800" y="134155"/>
            <a:ext cx="12633960" cy="916982"/>
          </a:xfrm>
          <a:prstGeom prst="rect">
            <a:avLst/>
          </a:prstGeom>
          <a:noFill/>
        </p:spPr>
        <p:txBody>
          <a:bodyPr wrap="square">
            <a:spAutoFit/>
          </a:bodyPr>
          <a:lstStyle/>
          <a:p>
            <a:pPr marL="0" marR="356235" algn="ctr">
              <a:lnSpc>
                <a:spcPct val="150000"/>
              </a:lnSpc>
              <a:spcBef>
                <a:spcPts val="50"/>
              </a:spcBef>
            </a:pPr>
            <a:r>
              <a:rPr lang="en-US" sz="4000" u="sng" dirty="0">
                <a:solidFill>
                  <a:schemeClr val="accent1">
                    <a:lumMod val="50000"/>
                  </a:schemeClr>
                </a:solidFill>
                <a:effectLst/>
                <a:latin typeface="Times New Roman" panose="02020603050405020304" pitchFamily="18" charset="0"/>
                <a:ea typeface="Times New Roman" panose="02020603050405020304" pitchFamily="18" charset="0"/>
              </a:rPr>
              <a:t>QUESTIONNAIRE</a:t>
            </a:r>
            <a:endParaRPr lang="en-US" sz="4000" dirty="0">
              <a:solidFill>
                <a:schemeClr val="accent1">
                  <a:lumMod val="50000"/>
                </a:schemeClr>
              </a:solidFill>
              <a:effectLst/>
              <a:latin typeface="Calibri" panose="020F0502020204030204" pitchFamily="34" charset="0"/>
              <a:ea typeface="Calibri" panose="020F0502020204030204" pitchFamily="34" charset="0"/>
            </a:endParaRPr>
          </a:p>
        </p:txBody>
      </p:sp>
      <p:sp>
        <p:nvSpPr>
          <p:cNvPr id="18" name="TextBox 17">
            <a:extLst>
              <a:ext uri="{FF2B5EF4-FFF2-40B4-BE49-F238E27FC236}">
                <a16:creationId xmlns:a16="http://schemas.microsoft.com/office/drawing/2014/main" id="{9940BB7E-71C1-F63C-47AE-02EE41BA06DE}"/>
              </a:ext>
            </a:extLst>
          </p:cNvPr>
          <p:cNvSpPr txBox="1"/>
          <p:nvPr/>
        </p:nvSpPr>
        <p:spPr>
          <a:xfrm>
            <a:off x="2057400" y="2342454"/>
            <a:ext cx="12633960" cy="5999656"/>
          </a:xfrm>
          <a:prstGeom prst="rect">
            <a:avLst/>
          </a:prstGeom>
          <a:noFill/>
        </p:spPr>
        <p:txBody>
          <a:bodyPr wrap="square">
            <a:spAutoFit/>
          </a:bodyPr>
          <a:lstStyle/>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The following questions are used in the survey of    “</a:t>
            </a:r>
            <a:r>
              <a:rPr lang="en-US" sz="3200" dirty="0">
                <a:effectLst/>
                <a:latin typeface="Arial Rounded MT Bold" panose="020F0704030504030204" pitchFamily="34" charset="0"/>
                <a:ea typeface="Times New Roman" panose="02020603050405020304" pitchFamily="18" charset="0"/>
                <a:cs typeface="Times New Roman" panose="02020603050405020304" pitchFamily="18" charset="0"/>
              </a:rPr>
              <a:t>Identification of People who are using fuel or </a:t>
            </a:r>
            <a:r>
              <a:rPr lang="en-US" sz="3200" dirty="0" err="1">
                <a:effectLst/>
                <a:latin typeface="Arial Rounded MT Bold" panose="020F0704030504030204" pitchFamily="34" charset="0"/>
                <a:ea typeface="Times New Roman" panose="02020603050405020304" pitchFamily="18" charset="0"/>
                <a:cs typeface="Times New Roman" panose="02020603050405020304" pitchFamily="18" charset="0"/>
              </a:rPr>
              <a:t>cng</a:t>
            </a:r>
            <a:r>
              <a:rPr lang="en-US" sz="3200" dirty="0">
                <a:effectLst/>
                <a:latin typeface="Arial Rounded MT Bold" panose="020F0704030504030204" pitchFamily="34" charset="0"/>
                <a:ea typeface="Times New Roman" panose="02020603050405020304" pitchFamily="18" charset="0"/>
                <a:cs typeface="Times New Roman" panose="02020603050405020304" pitchFamily="18" charset="0"/>
              </a:rPr>
              <a:t> </a:t>
            </a:r>
            <a:r>
              <a:rPr lang="en-US" sz="3200" dirty="0" err="1">
                <a:effectLst/>
                <a:latin typeface="Arial Rounded MT Bold" panose="020F0704030504030204" pitchFamily="34" charset="0"/>
                <a:ea typeface="Times New Roman" panose="02020603050405020304" pitchFamily="18" charset="0"/>
                <a:cs typeface="Times New Roman" panose="02020603050405020304" pitchFamily="18" charset="0"/>
              </a:rPr>
              <a:t>autorikshaws</a:t>
            </a:r>
            <a:r>
              <a:rPr lang="en-US" sz="3200" dirty="0">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*What is your name?</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*What is your age?</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*What is your </a:t>
            </a:r>
            <a:r>
              <a:rPr lang="en-US" sz="3200" dirty="0" err="1">
                <a:effectLst/>
                <a:latin typeface="Times New Roman" panose="02020603050405020304" pitchFamily="18" charset="0"/>
                <a:ea typeface="Times New Roman" panose="02020603050405020304" pitchFamily="18" charset="0"/>
              </a:rPr>
              <a:t>aadhar</a:t>
            </a:r>
            <a:r>
              <a:rPr lang="en-US" sz="3200" dirty="0">
                <a:effectLst/>
                <a:latin typeface="Times New Roman" panose="02020603050405020304" pitchFamily="18" charset="0"/>
                <a:ea typeface="Times New Roman" panose="02020603050405020304" pitchFamily="18" charset="0"/>
              </a:rPr>
              <a:t> number?</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*What is your vehicle number?</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buNone/>
            </a:pPr>
            <a:r>
              <a:rPr lang="en-US" sz="3200" dirty="0">
                <a:effectLst/>
                <a:latin typeface="Times New Roman" panose="02020603050405020304" pitchFamily="18" charset="0"/>
                <a:ea typeface="Times New Roman" panose="02020603050405020304" pitchFamily="18" charset="0"/>
              </a:rPr>
              <a:t>*Are you using CNG or FUEL vehicle?</a:t>
            </a:r>
            <a:endParaRPr lang="en-US" sz="3200" dirty="0">
              <a:effectLst/>
              <a:latin typeface="Calibri" panose="020F0502020204030204" pitchFamily="34" charset="0"/>
              <a:ea typeface="Calibri" panose="020F0502020204030204" pitchFamily="34" charset="0"/>
            </a:endParaRPr>
          </a:p>
          <a:p>
            <a:pPr marL="0" marR="356235">
              <a:lnSpc>
                <a:spcPct val="150000"/>
              </a:lnSpc>
              <a:spcBef>
                <a:spcPts val="50"/>
              </a:spcBef>
            </a:pPr>
            <a:r>
              <a:rPr lang="en-US" sz="3200" dirty="0">
                <a:effectLst/>
                <a:latin typeface="Times New Roman" panose="02020603050405020304" pitchFamily="18" charset="0"/>
                <a:ea typeface="Times New Roman" panose="02020603050405020304" pitchFamily="18" charset="0"/>
              </a:rPr>
              <a:t>*Which type of automotive company are you using?</a:t>
            </a:r>
            <a:endParaRPr lang="en-US" sz="3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79414109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extLst>
              <p:ext uri="{D42A27DB-BD31-4B8C-83A1-F6EECF244321}">
                <p14:modId xmlns:p14="http://schemas.microsoft.com/office/powerpoint/2010/main" val="1402961869"/>
              </p:ext>
            </p:extLst>
          </p:nvPr>
        </p:nvGraphicFramePr>
        <p:xfrm>
          <a:off x="1569057" y="1268503"/>
          <a:ext cx="15149889" cy="8301807"/>
        </p:xfrm>
        <a:graphic>
          <a:graphicData uri="http://schemas.openxmlformats.org/drawingml/2006/table">
            <a:tbl>
              <a:tblPr/>
              <a:tblGrid>
                <a:gridCol w="1683321">
                  <a:extLst>
                    <a:ext uri="{9D8B030D-6E8A-4147-A177-3AD203B41FA5}">
                      <a16:colId xmlns:a16="http://schemas.microsoft.com/office/drawing/2014/main" val="20000"/>
                    </a:ext>
                  </a:extLst>
                </a:gridCol>
                <a:gridCol w="1683321">
                  <a:extLst>
                    <a:ext uri="{9D8B030D-6E8A-4147-A177-3AD203B41FA5}">
                      <a16:colId xmlns:a16="http://schemas.microsoft.com/office/drawing/2014/main" val="220229440"/>
                    </a:ext>
                  </a:extLst>
                </a:gridCol>
                <a:gridCol w="1683321">
                  <a:extLst>
                    <a:ext uri="{9D8B030D-6E8A-4147-A177-3AD203B41FA5}">
                      <a16:colId xmlns:a16="http://schemas.microsoft.com/office/drawing/2014/main" val="2778141923"/>
                    </a:ext>
                  </a:extLst>
                </a:gridCol>
                <a:gridCol w="1683321">
                  <a:extLst>
                    <a:ext uri="{9D8B030D-6E8A-4147-A177-3AD203B41FA5}">
                      <a16:colId xmlns:a16="http://schemas.microsoft.com/office/drawing/2014/main" val="20001"/>
                    </a:ext>
                  </a:extLst>
                </a:gridCol>
                <a:gridCol w="1683321">
                  <a:extLst>
                    <a:ext uri="{9D8B030D-6E8A-4147-A177-3AD203B41FA5}">
                      <a16:colId xmlns:a16="http://schemas.microsoft.com/office/drawing/2014/main" val="20002"/>
                    </a:ext>
                  </a:extLst>
                </a:gridCol>
                <a:gridCol w="1683321">
                  <a:extLst>
                    <a:ext uri="{9D8B030D-6E8A-4147-A177-3AD203B41FA5}">
                      <a16:colId xmlns:a16="http://schemas.microsoft.com/office/drawing/2014/main" val="20003"/>
                    </a:ext>
                  </a:extLst>
                </a:gridCol>
                <a:gridCol w="1683321">
                  <a:extLst>
                    <a:ext uri="{9D8B030D-6E8A-4147-A177-3AD203B41FA5}">
                      <a16:colId xmlns:a16="http://schemas.microsoft.com/office/drawing/2014/main" val="20004"/>
                    </a:ext>
                  </a:extLst>
                </a:gridCol>
                <a:gridCol w="1683321">
                  <a:extLst>
                    <a:ext uri="{9D8B030D-6E8A-4147-A177-3AD203B41FA5}">
                      <a16:colId xmlns:a16="http://schemas.microsoft.com/office/drawing/2014/main" val="20005"/>
                    </a:ext>
                  </a:extLst>
                </a:gridCol>
                <a:gridCol w="1683321">
                  <a:extLst>
                    <a:ext uri="{9D8B030D-6E8A-4147-A177-3AD203B41FA5}">
                      <a16:colId xmlns:a16="http://schemas.microsoft.com/office/drawing/2014/main" val="20006"/>
                    </a:ext>
                  </a:extLst>
                </a:gridCol>
              </a:tblGrid>
              <a:tr h="502920">
                <a:tc>
                  <a:txBody>
                    <a:bodyPr/>
                    <a:lstStyle/>
                    <a:p>
                      <a:pPr marL="0" marR="0" algn="ctr">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S.No</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NAMES</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ADDRESS</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AADHAAR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AGE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vehicle Number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Are you using CNG or FUEL vehicle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lgn="ctr">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which type of autorickshaws are less expensive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Automotive company</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P.VENKATESH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619647875521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Lk 2486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7079437"/>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T.HARI KRISHNA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657832204203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AR 3849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4641566"/>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 </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K.PAVAN KUMAR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861208492901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BR 3824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G.PRABHAKAR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916617177657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MP 5646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G.PENCHALAIAH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513118971521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BC 1965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K.KUMAR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872193345954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29 RT 1653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Y.POLAIAH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980230681318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GM 2345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Y.MANOHAR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994143470397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30 LP 2310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N.MANI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480356084165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40 TH 3498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E.MOUNISH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815535249606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HJ 3409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K.SUDHAKAR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619240803315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CU 2398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T.SRINU</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864640696922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AP 39 IL 6050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T.SEKHAR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334415052905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LM 4059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T.VENKATESH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874995580026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EL 1980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SK.HAMEED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366619349565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SK 2907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K.RAMESH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796685845312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SQ 2890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483328">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I.VENKAIAH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908207129755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JK 8652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G.PAVAN</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315927446395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40 MT 2429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373323">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19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A.YASHU</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524138664717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72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GZ 5619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14" name="TextBox 14"/>
          <p:cNvSpPr txBox="1"/>
          <p:nvPr/>
        </p:nvSpPr>
        <p:spPr>
          <a:xfrm>
            <a:off x="5798607" y="-109447"/>
            <a:ext cx="6690785" cy="1377949"/>
          </a:xfrm>
          <a:prstGeom prst="rect">
            <a:avLst/>
          </a:prstGeom>
        </p:spPr>
        <p:txBody>
          <a:bodyPr lIns="0" tIns="0" rIns="0" bIns="0" rtlCol="0" anchor="t">
            <a:spAutoFit/>
          </a:bodyPr>
          <a:lstStyle/>
          <a:p>
            <a:pPr algn="ctr">
              <a:lnSpc>
                <a:spcPts val="11200"/>
              </a:lnSpc>
            </a:pPr>
            <a:r>
              <a:rPr lang="en-US" sz="8000" b="1">
                <a:solidFill>
                  <a:srgbClr val="000000"/>
                </a:solidFill>
                <a:latin typeface="Century Gothic Paneuropean Bold"/>
                <a:ea typeface="Century Gothic Paneuropean Bold"/>
                <a:cs typeface="Century Gothic Paneuropean Bold"/>
                <a:sym typeface="Century Gothic Paneuropean Bold"/>
              </a:rPr>
              <a:t>SURVEY DATA</a:t>
            </a: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extLst>
              <p:ext uri="{D42A27DB-BD31-4B8C-83A1-F6EECF244321}">
                <p14:modId xmlns:p14="http://schemas.microsoft.com/office/powerpoint/2010/main" val="2471347045"/>
              </p:ext>
            </p:extLst>
          </p:nvPr>
        </p:nvGraphicFramePr>
        <p:xfrm>
          <a:off x="1559061" y="190500"/>
          <a:ext cx="15149889" cy="9144000"/>
        </p:xfrm>
        <a:graphic>
          <a:graphicData uri="http://schemas.openxmlformats.org/drawingml/2006/table">
            <a:tbl>
              <a:tblPr/>
              <a:tblGrid>
                <a:gridCol w="1683321">
                  <a:extLst>
                    <a:ext uri="{9D8B030D-6E8A-4147-A177-3AD203B41FA5}">
                      <a16:colId xmlns:a16="http://schemas.microsoft.com/office/drawing/2014/main" val="20000"/>
                    </a:ext>
                  </a:extLst>
                </a:gridCol>
                <a:gridCol w="1683321">
                  <a:extLst>
                    <a:ext uri="{9D8B030D-6E8A-4147-A177-3AD203B41FA5}">
                      <a16:colId xmlns:a16="http://schemas.microsoft.com/office/drawing/2014/main" val="1802530014"/>
                    </a:ext>
                  </a:extLst>
                </a:gridCol>
                <a:gridCol w="1683321">
                  <a:extLst>
                    <a:ext uri="{9D8B030D-6E8A-4147-A177-3AD203B41FA5}">
                      <a16:colId xmlns:a16="http://schemas.microsoft.com/office/drawing/2014/main" val="1234698865"/>
                    </a:ext>
                  </a:extLst>
                </a:gridCol>
                <a:gridCol w="1683321">
                  <a:extLst>
                    <a:ext uri="{9D8B030D-6E8A-4147-A177-3AD203B41FA5}">
                      <a16:colId xmlns:a16="http://schemas.microsoft.com/office/drawing/2014/main" val="20001"/>
                    </a:ext>
                  </a:extLst>
                </a:gridCol>
                <a:gridCol w="1683321">
                  <a:extLst>
                    <a:ext uri="{9D8B030D-6E8A-4147-A177-3AD203B41FA5}">
                      <a16:colId xmlns:a16="http://schemas.microsoft.com/office/drawing/2014/main" val="20002"/>
                    </a:ext>
                  </a:extLst>
                </a:gridCol>
                <a:gridCol w="1683321">
                  <a:extLst>
                    <a:ext uri="{9D8B030D-6E8A-4147-A177-3AD203B41FA5}">
                      <a16:colId xmlns:a16="http://schemas.microsoft.com/office/drawing/2014/main" val="20003"/>
                    </a:ext>
                  </a:extLst>
                </a:gridCol>
                <a:gridCol w="1683321">
                  <a:extLst>
                    <a:ext uri="{9D8B030D-6E8A-4147-A177-3AD203B41FA5}">
                      <a16:colId xmlns:a16="http://schemas.microsoft.com/office/drawing/2014/main" val="20004"/>
                    </a:ext>
                  </a:extLst>
                </a:gridCol>
                <a:gridCol w="1683321">
                  <a:extLst>
                    <a:ext uri="{9D8B030D-6E8A-4147-A177-3AD203B41FA5}">
                      <a16:colId xmlns:a16="http://schemas.microsoft.com/office/drawing/2014/main" val="20005"/>
                    </a:ext>
                  </a:extLst>
                </a:gridCol>
                <a:gridCol w="1683321">
                  <a:extLst>
                    <a:ext uri="{9D8B030D-6E8A-4147-A177-3AD203B41FA5}">
                      <a16:colId xmlns:a16="http://schemas.microsoft.com/office/drawing/2014/main" val="20006"/>
                    </a:ext>
                  </a:extLst>
                </a:gridCol>
              </a:tblGrid>
              <a:tr h="321840">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A.SANTOSH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974737320804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40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BM 2810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1840">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A.ARUN</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905639648079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40 JH 2019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43524"/>
                  </a:ext>
                </a:extLst>
              </a:tr>
              <a:tr h="321840">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A.ASHOK</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325649831321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WQ 2105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8574"/>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CH.KARTHIK</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289268603243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SG 7609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K.SATISH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226592634073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ER 2085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P.SEENAIAH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485654244599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MB 1976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SK.KHADER BASHA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268601849665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HG 3276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SD.MEHABOOB</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363601638175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YG 9876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SK.BASHA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221290785482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RT 4578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A.LAKSHMIYA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462781632309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YB 5412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P.RAMANAIAH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931425708197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NX 6721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K.POLAIAH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998566895751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BO 6414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SK.KHALEEL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768809506860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JF 2309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Y.SHIVA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715848457661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HS 8720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A.ANNAMAIAH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750017310826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SJ 1954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P.PRAVEEN</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699587057945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40 TH 2876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Y.CHENCHAIAH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834094469558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40 YT 2710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T.CHAKRI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290865749279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QK 2956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T.GOPI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566095108187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JK 5446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E.SANDEEP</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825112310994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TU 2331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Z.KARUNAKAR</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265428106348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YQ 9901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G.SUNDHARAIAH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834628461683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FL 3784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P.CHANDRA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736852171723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PN 3306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K.ANKAIAH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582753447725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KL 4521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321840">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K.NAVEEN</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816675235063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NV 7832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extLst>
              <p:ext uri="{D42A27DB-BD31-4B8C-83A1-F6EECF244321}">
                <p14:modId xmlns:p14="http://schemas.microsoft.com/office/powerpoint/2010/main" val="3509581705"/>
              </p:ext>
            </p:extLst>
          </p:nvPr>
        </p:nvGraphicFramePr>
        <p:xfrm>
          <a:off x="1524000" y="1866900"/>
          <a:ext cx="14190791" cy="5029201"/>
        </p:xfrm>
        <a:graphic>
          <a:graphicData uri="http://schemas.openxmlformats.org/drawingml/2006/table">
            <a:tbl>
              <a:tblPr/>
              <a:tblGrid>
                <a:gridCol w="357823">
                  <a:extLst>
                    <a:ext uri="{9D8B030D-6E8A-4147-A177-3AD203B41FA5}">
                      <a16:colId xmlns:a16="http://schemas.microsoft.com/office/drawing/2014/main" val="20000"/>
                    </a:ext>
                  </a:extLst>
                </a:gridCol>
                <a:gridCol w="1729121">
                  <a:extLst>
                    <a:ext uri="{9D8B030D-6E8A-4147-A177-3AD203B41FA5}">
                      <a16:colId xmlns:a16="http://schemas.microsoft.com/office/drawing/2014/main" val="2096708028"/>
                    </a:ext>
                  </a:extLst>
                </a:gridCol>
                <a:gridCol w="1729121">
                  <a:extLst>
                    <a:ext uri="{9D8B030D-6E8A-4147-A177-3AD203B41FA5}">
                      <a16:colId xmlns:a16="http://schemas.microsoft.com/office/drawing/2014/main" val="2268188079"/>
                    </a:ext>
                  </a:extLst>
                </a:gridCol>
                <a:gridCol w="1729121">
                  <a:extLst>
                    <a:ext uri="{9D8B030D-6E8A-4147-A177-3AD203B41FA5}">
                      <a16:colId xmlns:a16="http://schemas.microsoft.com/office/drawing/2014/main" val="20001"/>
                    </a:ext>
                  </a:extLst>
                </a:gridCol>
                <a:gridCol w="1729121">
                  <a:extLst>
                    <a:ext uri="{9D8B030D-6E8A-4147-A177-3AD203B41FA5}">
                      <a16:colId xmlns:a16="http://schemas.microsoft.com/office/drawing/2014/main" val="20002"/>
                    </a:ext>
                  </a:extLst>
                </a:gridCol>
                <a:gridCol w="1729121">
                  <a:extLst>
                    <a:ext uri="{9D8B030D-6E8A-4147-A177-3AD203B41FA5}">
                      <a16:colId xmlns:a16="http://schemas.microsoft.com/office/drawing/2014/main" val="20003"/>
                    </a:ext>
                  </a:extLst>
                </a:gridCol>
                <a:gridCol w="1729121">
                  <a:extLst>
                    <a:ext uri="{9D8B030D-6E8A-4147-A177-3AD203B41FA5}">
                      <a16:colId xmlns:a16="http://schemas.microsoft.com/office/drawing/2014/main" val="20004"/>
                    </a:ext>
                  </a:extLst>
                </a:gridCol>
                <a:gridCol w="1729121">
                  <a:extLst>
                    <a:ext uri="{9D8B030D-6E8A-4147-A177-3AD203B41FA5}">
                      <a16:colId xmlns:a16="http://schemas.microsoft.com/office/drawing/2014/main" val="20005"/>
                    </a:ext>
                  </a:extLst>
                </a:gridCol>
                <a:gridCol w="1729121">
                  <a:extLst>
                    <a:ext uri="{9D8B030D-6E8A-4147-A177-3AD203B41FA5}">
                      <a16:colId xmlns:a16="http://schemas.microsoft.com/office/drawing/2014/main" val="20006"/>
                    </a:ext>
                  </a:extLst>
                </a:gridCol>
              </a:tblGrid>
              <a:tr h="379091">
                <a:tc>
                  <a:txBody>
                    <a:bodyPr/>
                    <a:lstStyle/>
                    <a:p>
                      <a:pPr marL="0" marR="0">
                        <a:buNone/>
                      </a:pPr>
                      <a:r>
                        <a:rPr lang="en-US" sz="1400" kern="100" dirty="0">
                          <a:effectLst/>
                          <a:latin typeface="Calibri" panose="020F0502020204030204" pitchFamily="34" charset="0"/>
                          <a:ea typeface="Calibri" panose="020F0502020204030204" pitchFamily="34" charset="0"/>
                          <a:cs typeface="Calibri" panose="020F0502020204030204" pitchFamily="34" charset="0"/>
                        </a:rPr>
                        <a:t>45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SK.ABDULLAH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410415719594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42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GS 2985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0690">
                <a:tc>
                  <a:txBody>
                    <a:bodyPr/>
                    <a:lstStyle/>
                    <a:p>
                      <a:pPr marL="0" marR="0">
                        <a:buNone/>
                      </a:pPr>
                      <a:r>
                        <a:rPr lang="en-US" sz="1400" kern="100">
                          <a:effectLst/>
                          <a:latin typeface="Calibri" panose="020F0502020204030204" pitchFamily="34" charset="0"/>
                          <a:ea typeface="Calibri" panose="020F0502020204030204" pitchFamily="34" charset="0"/>
                          <a:cs typeface="Calibri" panose="020F0502020204030204" pitchFamily="34" charset="0"/>
                        </a:rPr>
                        <a:t>46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sk.SHAFI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683097404256</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UE 5742</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0690">
                <a:tc>
                  <a:txBody>
                    <a:bodyPr/>
                    <a:lstStyle/>
                    <a:p>
                      <a:pPr marL="0" marR="0">
                        <a:buNone/>
                      </a:pPr>
                      <a:r>
                        <a:rPr lang="en-US" sz="1400" kern="100">
                          <a:effectLst/>
                          <a:latin typeface="Calibri" panose="020F0502020204030204" pitchFamily="34" charset="0"/>
                          <a:ea typeface="Calibri" panose="020F0502020204030204" pitchFamily="34" charset="0"/>
                          <a:cs typeface="Calibri" panose="020F0502020204030204" pitchFamily="34" charset="0"/>
                        </a:rPr>
                        <a:t>47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A.PARANDHAMAIAH</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720181870527</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OU 6849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alpha</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0690">
                <a:tc>
                  <a:txBody>
                    <a:bodyPr/>
                    <a:lstStyle/>
                    <a:p>
                      <a:pPr marL="0" marR="0">
                        <a:buNone/>
                      </a:pPr>
                      <a:r>
                        <a:rPr lang="en-US" sz="1400" kern="100">
                          <a:effectLst/>
                          <a:latin typeface="Calibri" panose="020F0502020204030204" pitchFamily="34" charset="0"/>
                          <a:ea typeface="Calibri" panose="020F0502020204030204" pitchFamily="34" charset="0"/>
                          <a:cs typeface="Calibri" panose="020F0502020204030204" pitchFamily="34" charset="0"/>
                        </a:rPr>
                        <a:t>48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SK.SUBHANI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950410512485</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29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UD 6110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cng</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bajaj</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0690">
                <a:tc>
                  <a:txBody>
                    <a:bodyPr/>
                    <a:lstStyle/>
                    <a:p>
                      <a:pPr marL="0" marR="0">
                        <a:buNone/>
                      </a:pPr>
                      <a:r>
                        <a:rPr lang="en-US" sz="1400" kern="100">
                          <a:effectLst/>
                          <a:latin typeface="Calibri" panose="020F0502020204030204" pitchFamily="34" charset="0"/>
                          <a:ea typeface="Calibri" panose="020F0502020204030204" pitchFamily="34" charset="0"/>
                          <a:cs typeface="Calibri" panose="020F0502020204030204" pitchFamily="34" charset="0"/>
                        </a:rPr>
                        <a:t>49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A.SAI KARTHIK</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363630178383</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31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26 HK 5001</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fuel</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ape</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0690">
                <a:tc>
                  <a:txBody>
                    <a:bodyPr/>
                    <a:lstStyle/>
                    <a:p>
                      <a:pPr marL="0" marR="0">
                        <a:buNone/>
                      </a:pPr>
                      <a:r>
                        <a:rPr lang="en-US" sz="1400" kern="100">
                          <a:effectLst/>
                          <a:latin typeface="Calibri" panose="020F0502020204030204" pitchFamily="34" charset="0"/>
                          <a:ea typeface="Calibri" panose="020F0502020204030204" pitchFamily="34" charset="0"/>
                          <a:cs typeface="Calibri" panose="020F0502020204030204" pitchFamily="34" charset="0"/>
                        </a:rPr>
                        <a:t>50</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K.HARI</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ATHMAKUR BUSTAND</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849753211019</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54</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a:effectLst/>
                          <a:latin typeface="Times New Roman" panose="02020603050405020304" pitchFamily="18" charset="0"/>
                          <a:ea typeface="Calibri" panose="020F0502020204030204" pitchFamily="34" charset="0"/>
                          <a:cs typeface="Times New Roman" panose="02020603050405020304" pitchFamily="18" charset="0"/>
                        </a:rPr>
                        <a:t>AP 39 MD 3498</a:t>
                      </a: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cng</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cng</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a:buNone/>
                      </a:pP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bajaj</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4165">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74165">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74165">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574165">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400" dirty="0"/>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4" name="TextBox 14"/>
          <p:cNvSpPr txBox="1"/>
          <p:nvPr/>
        </p:nvSpPr>
        <p:spPr>
          <a:xfrm>
            <a:off x="5798607" y="90582"/>
            <a:ext cx="6690785" cy="1377949"/>
          </a:xfrm>
          <a:prstGeom prst="rect">
            <a:avLst/>
          </a:prstGeom>
        </p:spPr>
        <p:txBody>
          <a:bodyPr lIns="0" tIns="0" rIns="0" bIns="0" rtlCol="0" anchor="t">
            <a:spAutoFit/>
          </a:bodyPr>
          <a:lstStyle/>
          <a:p>
            <a:pPr algn="ctr">
              <a:lnSpc>
                <a:spcPts val="11200"/>
              </a:lnSpc>
            </a:pPr>
            <a:r>
              <a:rPr lang="en-US" sz="8000" b="1">
                <a:solidFill>
                  <a:srgbClr val="000000"/>
                </a:solidFill>
                <a:latin typeface="Century Gothic Paneuropean Bold"/>
                <a:ea typeface="Century Gothic Paneuropean Bold"/>
                <a:cs typeface="Century Gothic Paneuropean Bold"/>
                <a:sym typeface="Century Gothic Paneuropean Bold"/>
              </a:rPr>
              <a:t>SURVEY DATA</a:t>
            </a:r>
          </a:p>
        </p:txBody>
      </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074680" y="326747"/>
            <a:ext cx="10138641" cy="1377949"/>
          </a:xfrm>
          <a:prstGeom prst="rect">
            <a:avLst/>
          </a:prstGeom>
        </p:spPr>
        <p:txBody>
          <a:bodyPr lIns="0" tIns="0" rIns="0" bIns="0" rtlCol="0" anchor="t">
            <a:spAutoFit/>
          </a:bodyPr>
          <a:lstStyle/>
          <a:p>
            <a:pPr algn="ctr">
              <a:lnSpc>
                <a:spcPts val="11200"/>
              </a:lnSpc>
            </a:pPr>
            <a:r>
              <a:rPr lang="en-US" sz="8000" b="1" dirty="0">
                <a:solidFill>
                  <a:srgbClr val="000000"/>
                </a:solidFill>
                <a:latin typeface="Century Gothic Paneuropean Bold"/>
                <a:ea typeface="Century Gothic Paneuropean Bold"/>
                <a:cs typeface="Century Gothic Paneuropean Bold"/>
                <a:sym typeface="Century Gothic Paneuropean Bold"/>
              </a:rPr>
              <a:t>DATA VISUALIZATION</a:t>
            </a:r>
          </a:p>
        </p:txBody>
      </p:sp>
      <p:sp>
        <p:nvSpPr>
          <p:cNvPr id="16" name="TextBox 15">
            <a:extLst>
              <a:ext uri="{FF2B5EF4-FFF2-40B4-BE49-F238E27FC236}">
                <a16:creationId xmlns:a16="http://schemas.microsoft.com/office/drawing/2014/main" id="{D16EABCD-8ACF-4E7D-A931-FD30477CA3B2}"/>
              </a:ext>
            </a:extLst>
          </p:cNvPr>
          <p:cNvSpPr txBox="1"/>
          <p:nvPr/>
        </p:nvSpPr>
        <p:spPr>
          <a:xfrm>
            <a:off x="8686800" y="4309672"/>
            <a:ext cx="914400" cy="914400"/>
          </a:xfrm>
          <a:prstGeom prst="rect">
            <a:avLst/>
          </a:prstGeom>
          <a:noFill/>
        </p:spPr>
        <p:txBody>
          <a:bodyPr wrap="square" rtlCol="0">
            <a:spAutoFit/>
          </a:bodyPr>
          <a:lstStyle/>
          <a:p>
            <a:endParaRPr lang="en-US"/>
          </a:p>
        </p:txBody>
      </p:sp>
      <p:sp>
        <p:nvSpPr>
          <p:cNvPr id="17" name="TextBox 16">
            <a:extLst>
              <a:ext uri="{FF2B5EF4-FFF2-40B4-BE49-F238E27FC236}">
                <a16:creationId xmlns:a16="http://schemas.microsoft.com/office/drawing/2014/main" id="{ACA1B2B6-942E-E545-41FA-C25175EB7001}"/>
              </a:ext>
            </a:extLst>
          </p:cNvPr>
          <p:cNvSpPr txBox="1"/>
          <p:nvPr/>
        </p:nvSpPr>
        <p:spPr>
          <a:xfrm>
            <a:off x="8686800" y="4309672"/>
            <a:ext cx="914400" cy="914400"/>
          </a:xfrm>
          <a:prstGeom prst="rect">
            <a:avLst/>
          </a:prstGeom>
          <a:noFill/>
        </p:spPr>
        <p:txBody>
          <a:bodyPr wrap="square" rtlCol="0">
            <a:spAutoFit/>
          </a:bodyPr>
          <a:lstStyle/>
          <a:p>
            <a:endParaRPr lang="en-US"/>
          </a:p>
        </p:txBody>
      </p:sp>
      <p:graphicFrame>
        <p:nvGraphicFramePr>
          <p:cNvPr id="23" name="Chart 22">
            <a:extLst>
              <a:ext uri="{FF2B5EF4-FFF2-40B4-BE49-F238E27FC236}">
                <a16:creationId xmlns:a16="http://schemas.microsoft.com/office/drawing/2014/main" id="{DCD717AD-56C3-AA6F-D33B-8BDECF225789}"/>
              </a:ext>
            </a:extLst>
          </p:cNvPr>
          <p:cNvGraphicFramePr/>
          <p:nvPr>
            <p:extLst>
              <p:ext uri="{D42A27DB-BD31-4B8C-83A1-F6EECF244321}">
                <p14:modId xmlns:p14="http://schemas.microsoft.com/office/powerpoint/2010/main" val="1728904360"/>
              </p:ext>
            </p:extLst>
          </p:nvPr>
        </p:nvGraphicFramePr>
        <p:xfrm>
          <a:off x="3048000" y="1704696"/>
          <a:ext cx="12192000" cy="750280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37336" y="258763"/>
            <a:ext cx="8213328" cy="1377949"/>
          </a:xfrm>
          <a:prstGeom prst="rect">
            <a:avLst/>
          </a:prstGeom>
        </p:spPr>
        <p:txBody>
          <a:bodyPr lIns="0" tIns="0" rIns="0" bIns="0" rtlCol="0" anchor="t">
            <a:spAutoFit/>
          </a:bodyPr>
          <a:lstStyle/>
          <a:p>
            <a:pPr algn="ctr">
              <a:lnSpc>
                <a:spcPts val="11200"/>
              </a:lnSpc>
            </a:pPr>
            <a:r>
              <a:rPr lang="en-US" sz="8000" b="1" dirty="0">
                <a:solidFill>
                  <a:srgbClr val="000000"/>
                </a:solidFill>
                <a:latin typeface="Century Gothic Paneuropean Bold"/>
                <a:ea typeface="Century Gothic Paneuropean Bold"/>
                <a:cs typeface="Century Gothic Paneuropean Bold"/>
                <a:sym typeface="Century Gothic Paneuropean Bold"/>
              </a:rPr>
              <a:t>SURVEY PHOTOS</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94561" y="326747"/>
            <a:ext cx="6898878" cy="1377949"/>
          </a:xfrm>
          <a:prstGeom prst="rect">
            <a:avLst/>
          </a:prstGeom>
        </p:spPr>
        <p:txBody>
          <a:bodyPr lIns="0" tIns="0" rIns="0" bIns="0" rtlCol="0" anchor="t">
            <a:spAutoFit/>
          </a:bodyPr>
          <a:lstStyle/>
          <a:p>
            <a:pPr algn="ctr">
              <a:lnSpc>
                <a:spcPts val="11200"/>
              </a:lnSpc>
            </a:pPr>
            <a:r>
              <a:rPr lang="en-US" sz="8000" b="1">
                <a:solidFill>
                  <a:srgbClr val="000000"/>
                </a:solidFill>
                <a:latin typeface="Century Gothic Paneuropean Bold"/>
                <a:ea typeface="Century Gothic Paneuropean Bold"/>
                <a:cs typeface="Century Gothic Paneuropean Bold"/>
                <a:sym typeface="Century Gothic Paneuropean Bold"/>
              </a:rPr>
              <a:t>CONCLUSION</a:t>
            </a:r>
          </a:p>
        </p:txBody>
      </p:sp>
      <p:sp>
        <p:nvSpPr>
          <p:cNvPr id="3" name="TextBox 3"/>
          <p:cNvSpPr txBox="1"/>
          <p:nvPr/>
        </p:nvSpPr>
        <p:spPr>
          <a:xfrm>
            <a:off x="1569056" y="2714625"/>
            <a:ext cx="15423543" cy="8741111"/>
          </a:xfrm>
          <a:prstGeom prst="rect">
            <a:avLst/>
          </a:prstGeom>
        </p:spPr>
        <p:txBody>
          <a:bodyPr wrap="square" lIns="0" tIns="0" rIns="0" bIns="0" rtlCol="0" anchor="t">
            <a:spAutoFit/>
          </a:bodyPr>
          <a:lstStyle/>
          <a:p>
            <a:pPr marL="0" marR="0">
              <a:spcBef>
                <a:spcPts val="50"/>
              </a:spcBef>
              <a:buNone/>
              <a:tabLst>
                <a:tab pos="1304925" algn="l"/>
              </a:tabLst>
            </a:pPr>
            <a:r>
              <a:rPr lang="en-US" sz="2800" dirty="0">
                <a:solidFill>
                  <a:schemeClr val="bg2">
                    <a:lumMod val="10000"/>
                  </a:schemeClr>
                </a:solidFill>
                <a:effectLst/>
                <a:latin typeface="Calibri" panose="020F0502020204030204" pitchFamily="34" charset="0"/>
                <a:ea typeface="Calibri" panose="020F0502020204030204" pitchFamily="34" charset="0"/>
              </a:rPr>
              <a:t>We had collected the data about number of people using CNG Autorickshaws and not using CNG Autorickshaws through a survey among 50 people .</a:t>
            </a:r>
            <a:br>
              <a:rPr lang="en-US" sz="2800" dirty="0">
                <a:solidFill>
                  <a:schemeClr val="bg2">
                    <a:lumMod val="10000"/>
                  </a:schemeClr>
                </a:solidFill>
                <a:effectLst/>
                <a:latin typeface="Calibri" panose="020F0502020204030204" pitchFamily="34" charset="0"/>
                <a:ea typeface="Calibri" panose="020F0502020204030204" pitchFamily="34" charset="0"/>
              </a:rPr>
            </a:br>
            <a:r>
              <a:rPr lang="en-US" sz="2800" dirty="0">
                <a:solidFill>
                  <a:schemeClr val="bg2">
                    <a:lumMod val="10000"/>
                  </a:schemeClr>
                </a:solidFill>
                <a:effectLst/>
                <a:latin typeface="Calibri" panose="020F0502020204030204" pitchFamily="34" charset="0"/>
                <a:ea typeface="Calibri" panose="020F0502020204030204" pitchFamily="34" charset="0"/>
              </a:rPr>
              <a:t>Where,</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TOTAL NO. OF PEOPLE : 50</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USING FUEL : 31</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USING CNG : 19</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WHO ARE NOT USING CNG : 31</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USING BAJAJ : 19</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USING APE : 16</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NO. OF PEOPLE USING ALPHA : 15</a:t>
            </a:r>
          </a:p>
          <a:p>
            <a:pPr marL="0" marR="0" algn="just">
              <a:buNone/>
            </a:pPr>
            <a:r>
              <a:rPr lang="en-US" sz="2800" dirty="0">
                <a:solidFill>
                  <a:schemeClr val="bg2">
                    <a:lumMod val="10000"/>
                  </a:schemeClr>
                </a:solidFill>
                <a:effectLst/>
                <a:latin typeface="Calibri" panose="020F0502020204030204" pitchFamily="34" charset="0"/>
                <a:ea typeface="Calibri" panose="020F0502020204030204" pitchFamily="34" charset="0"/>
              </a:rPr>
              <a:t>  Since, the CNG Autorickshaw users are vey less in number compared to FUEL Autorickshaw users in ATHMAKUR BUSTAND, . But as we look at the no. of people who are using CNG Autorickshaws are increasing in number and it is still </a:t>
            </a:r>
            <a:r>
              <a:rPr lang="en-US" sz="2800" dirty="0" err="1">
                <a:solidFill>
                  <a:schemeClr val="bg2">
                    <a:lumMod val="10000"/>
                  </a:schemeClr>
                </a:solidFill>
                <a:effectLst/>
                <a:latin typeface="Calibri" panose="020F0502020204030204" pitchFamily="34" charset="0"/>
                <a:ea typeface="Calibri" panose="020F0502020204030204" pitchFamily="34" charset="0"/>
              </a:rPr>
              <a:t>developing.Because</a:t>
            </a:r>
            <a:r>
              <a:rPr lang="en-US" sz="2800" dirty="0">
                <a:solidFill>
                  <a:schemeClr val="bg2">
                    <a:lumMod val="10000"/>
                  </a:schemeClr>
                </a:solidFill>
                <a:effectLst/>
                <a:latin typeface="Calibri" panose="020F0502020204030204" pitchFamily="34" charset="0"/>
                <a:ea typeface="Calibri" panose="020F0502020204030204" pitchFamily="34" charset="0"/>
              </a:rPr>
              <a:t>, it was invented during the last few years in India.</a:t>
            </a:r>
          </a:p>
          <a:p>
            <a:pPr marL="0" marR="0">
              <a:buNone/>
            </a:pPr>
            <a:r>
              <a:rPr lang="en-US" sz="2800" dirty="0">
                <a:solidFill>
                  <a:schemeClr val="bg2">
                    <a:lumMod val="10000"/>
                  </a:schemeClr>
                </a:solidFill>
                <a:effectLst/>
                <a:latin typeface="Calibri" panose="020F0502020204030204" pitchFamily="34" charset="0"/>
                <a:ea typeface="Calibri" panose="020F0502020204030204" pitchFamily="34" charset="0"/>
              </a:rPr>
              <a:t> </a:t>
            </a:r>
          </a:p>
          <a:p>
            <a:pPr marL="0" marR="0">
              <a:spcBef>
                <a:spcPts val="50"/>
              </a:spcBef>
              <a:buNone/>
              <a:tabLst>
                <a:tab pos="2334260" algn="l"/>
              </a:tabLst>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US" sz="2800" dirty="0">
              <a:solidFill>
                <a:schemeClr val="bg2">
                  <a:lumMod val="10000"/>
                </a:schemeClr>
              </a:solidFill>
              <a:effectLst/>
              <a:latin typeface="Calibri" panose="020F0502020204030204" pitchFamily="34" charset="0"/>
              <a:ea typeface="Calibri" panose="020F0502020204030204" pitchFamily="34" charset="0"/>
            </a:endParaRPr>
          </a:p>
          <a:p>
            <a:pPr marL="0" marR="0">
              <a:spcBef>
                <a:spcPts val="50"/>
              </a:spcBef>
              <a:buNone/>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US" sz="2800" dirty="0">
              <a:solidFill>
                <a:schemeClr val="bg2">
                  <a:lumMod val="10000"/>
                </a:schemeClr>
              </a:solidFill>
              <a:effectLst/>
              <a:latin typeface="Calibri" panose="020F0502020204030204" pitchFamily="34" charset="0"/>
              <a:ea typeface="Calibri" panose="020F0502020204030204" pitchFamily="34" charset="0"/>
            </a:endParaRPr>
          </a:p>
          <a:p>
            <a:pPr marL="0" marR="0">
              <a:spcBef>
                <a:spcPts val="50"/>
              </a:spcBef>
              <a:buNone/>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US" sz="2800" dirty="0">
              <a:solidFill>
                <a:schemeClr val="bg2">
                  <a:lumMod val="10000"/>
                </a:schemeClr>
              </a:solidFill>
              <a:effectLst/>
              <a:latin typeface="Calibri" panose="020F0502020204030204" pitchFamily="34" charset="0"/>
              <a:ea typeface="Calibri" panose="020F0502020204030204" pitchFamily="34" charset="0"/>
            </a:endParaRPr>
          </a:p>
          <a:p>
            <a:pPr marL="0" marR="0">
              <a:spcBef>
                <a:spcPts val="50"/>
              </a:spcBef>
              <a:buNone/>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US" sz="2800" dirty="0">
              <a:solidFill>
                <a:schemeClr val="bg2">
                  <a:lumMod val="10000"/>
                </a:schemeClr>
              </a:solidFill>
              <a:effectLst/>
              <a:latin typeface="Calibri" panose="020F0502020204030204" pitchFamily="34" charset="0"/>
              <a:ea typeface="Calibri" panose="020F0502020204030204" pitchFamily="34" charset="0"/>
            </a:endParaRPr>
          </a:p>
          <a:p>
            <a:pPr marL="0" marR="0">
              <a:spcBef>
                <a:spcPts val="50"/>
              </a:spcBef>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US" sz="2800" dirty="0">
              <a:solidFill>
                <a:schemeClr val="bg2">
                  <a:lumMod val="10000"/>
                </a:schemeClr>
              </a:solidFill>
              <a:effectLst/>
              <a:latin typeface="Calibri" panose="020F0502020204030204" pitchFamily="34" charset="0"/>
              <a:ea typeface="Calibri" panose="020F0502020204030204" pitchFamily="34" charset="0"/>
            </a:endParaRPr>
          </a:p>
          <a:p>
            <a:pPr algn="just">
              <a:lnSpc>
                <a:spcPts val="4200"/>
              </a:lnSpc>
            </a:pPr>
            <a:r>
              <a:rPr lang="en-US" sz="2800" dirty="0">
                <a:solidFill>
                  <a:schemeClr val="bg2">
                    <a:lumMod val="10000"/>
                  </a:schemeClr>
                </a:solidFill>
                <a:latin typeface="Gotham"/>
                <a:ea typeface="Gotham"/>
                <a:cs typeface="Gotham"/>
                <a:sym typeface="Gotham"/>
              </a:rPr>
              <a:t>.</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8343" y="7958487"/>
            <a:ext cx="8446333" cy="1698637"/>
          </a:xfrm>
          <a:prstGeom prst="rect">
            <a:avLst/>
          </a:prstGeom>
        </p:spPr>
        <p:txBody>
          <a:bodyPr lIns="0" tIns="0" rIns="0" bIns="0" rtlCol="0" anchor="t">
            <a:spAutoFit/>
          </a:bodyPr>
          <a:lstStyle/>
          <a:p>
            <a:pPr algn="ctr">
              <a:lnSpc>
                <a:spcPts val="13999"/>
              </a:lnSpc>
            </a:pPr>
            <a:r>
              <a:rPr lang="en-US" sz="9999"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794802" y="2786405"/>
            <a:ext cx="3563519" cy="53086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Gotham Bold"/>
                <a:ea typeface="Gotham Bold"/>
                <a:cs typeface="Gotham Bold"/>
                <a:sym typeface="Gotham Bold"/>
              </a:rPr>
              <a:t>PRSENTED BY :</a:t>
            </a:r>
          </a:p>
        </p:txBody>
      </p:sp>
      <p:sp>
        <p:nvSpPr>
          <p:cNvPr id="15" name="TextBox 15"/>
          <p:cNvSpPr txBox="1"/>
          <p:nvPr/>
        </p:nvSpPr>
        <p:spPr>
          <a:xfrm>
            <a:off x="1794802" y="3670487"/>
            <a:ext cx="5596598" cy="2163285"/>
          </a:xfrm>
          <a:prstGeom prst="rect">
            <a:avLst/>
          </a:prstGeom>
        </p:spPr>
        <p:txBody>
          <a:bodyPr wrap="square" lIns="0" tIns="0" rIns="0" bIns="0" rtlCol="0" anchor="t">
            <a:spAutoFit/>
          </a:bodyPr>
          <a:lstStyle/>
          <a:p>
            <a:pPr algn="just">
              <a:lnSpc>
                <a:spcPts val="4339"/>
              </a:lnSpc>
              <a:spcBef>
                <a:spcPct val="0"/>
              </a:spcBef>
            </a:pPr>
            <a:r>
              <a:rPr lang="en-US" sz="3099" b="1" dirty="0">
                <a:solidFill>
                  <a:srgbClr val="949393"/>
                </a:solidFill>
                <a:latin typeface="Gotham Bold"/>
                <a:ea typeface="Gotham Bold"/>
                <a:cs typeface="Gotham Bold"/>
                <a:sym typeface="Gotham Bold"/>
              </a:rPr>
              <a:t>R.VENKATA HEMANTH</a:t>
            </a:r>
          </a:p>
          <a:p>
            <a:pPr algn="just">
              <a:lnSpc>
                <a:spcPts val="4339"/>
              </a:lnSpc>
              <a:spcBef>
                <a:spcPct val="0"/>
              </a:spcBef>
            </a:pPr>
            <a:r>
              <a:rPr lang="en-US" sz="3099" b="1" dirty="0">
                <a:solidFill>
                  <a:srgbClr val="949393"/>
                </a:solidFill>
                <a:latin typeface="Gotham Bold"/>
                <a:ea typeface="Gotham Bold"/>
                <a:cs typeface="Gotham Bold"/>
                <a:sym typeface="Gotham Bold"/>
              </a:rPr>
              <a:t>SK.ARIF </a:t>
            </a:r>
          </a:p>
          <a:p>
            <a:pPr algn="just">
              <a:lnSpc>
                <a:spcPts val="4339"/>
              </a:lnSpc>
              <a:spcBef>
                <a:spcPct val="0"/>
              </a:spcBef>
            </a:pPr>
            <a:r>
              <a:rPr lang="en-US" sz="3099" b="1" dirty="0">
                <a:solidFill>
                  <a:srgbClr val="949393"/>
                </a:solidFill>
                <a:latin typeface="Gotham Bold"/>
                <a:ea typeface="Gotham Bold"/>
                <a:cs typeface="Gotham Bold"/>
                <a:sym typeface="Gotham Bold"/>
              </a:rPr>
              <a:t>P.LAKSHMAN</a:t>
            </a:r>
          </a:p>
          <a:p>
            <a:pPr algn="just">
              <a:lnSpc>
                <a:spcPts val="4339"/>
              </a:lnSpc>
              <a:spcBef>
                <a:spcPct val="0"/>
              </a:spcBef>
            </a:pPr>
            <a:r>
              <a:rPr lang="en-US" sz="3099" b="1" dirty="0">
                <a:solidFill>
                  <a:srgbClr val="949393"/>
                </a:solidFill>
                <a:latin typeface="Gotham Bold"/>
                <a:ea typeface="Gotham Bold"/>
                <a:cs typeface="Gotham Bold"/>
                <a:sym typeface="Gotham Bold"/>
              </a:rPr>
              <a:t>P.PRADEEP</a:t>
            </a:r>
          </a:p>
        </p:txBody>
      </p:sp>
      <p:sp>
        <p:nvSpPr>
          <p:cNvPr id="16" name="TextBox 16"/>
          <p:cNvSpPr txBox="1"/>
          <p:nvPr/>
        </p:nvSpPr>
        <p:spPr>
          <a:xfrm>
            <a:off x="9203929" y="2786405"/>
            <a:ext cx="1622923" cy="508985"/>
          </a:xfrm>
          <a:prstGeom prst="rect">
            <a:avLst/>
          </a:prstGeom>
        </p:spPr>
        <p:txBody>
          <a:bodyPr lIns="0" tIns="0" rIns="0" bIns="0" rtlCol="0" anchor="t">
            <a:spAutoFit/>
          </a:bodyPr>
          <a:lstStyle/>
          <a:p>
            <a:pPr algn="ctr">
              <a:lnSpc>
                <a:spcPts val="4339"/>
              </a:lnSpc>
              <a:spcBef>
                <a:spcPct val="0"/>
              </a:spcBef>
            </a:pPr>
            <a:r>
              <a:rPr lang="en-US" sz="3099" b="1" dirty="0">
                <a:solidFill>
                  <a:srgbClr val="000000"/>
                </a:solidFill>
                <a:latin typeface="Gotham Bold"/>
                <a:ea typeface="Gotham Bold"/>
                <a:cs typeface="Gotham Bold"/>
                <a:sym typeface="Gotham Bold"/>
              </a:rPr>
              <a:t> :</a:t>
            </a:r>
          </a:p>
        </p:txBody>
      </p:sp>
      <p:sp>
        <p:nvSpPr>
          <p:cNvPr id="17" name="TextBox 17"/>
          <p:cNvSpPr txBox="1"/>
          <p:nvPr/>
        </p:nvSpPr>
        <p:spPr>
          <a:xfrm>
            <a:off x="11550496" y="3670487"/>
            <a:ext cx="5168447" cy="1073786"/>
          </a:xfrm>
          <a:prstGeom prst="rect">
            <a:avLst/>
          </a:prstGeom>
        </p:spPr>
        <p:txBody>
          <a:bodyPr lIns="0" tIns="0" rIns="0" bIns="0" rtlCol="0" anchor="t">
            <a:spAutoFit/>
          </a:bodyPr>
          <a:lstStyle/>
          <a:p>
            <a:pPr algn="ctr">
              <a:lnSpc>
                <a:spcPts val="4339"/>
              </a:lnSpc>
            </a:pPr>
            <a:r>
              <a:rPr lang="en-US" sz="3099" b="1" dirty="0">
                <a:solidFill>
                  <a:srgbClr val="949393"/>
                </a:solidFill>
                <a:latin typeface="Gotham Bold"/>
                <a:ea typeface="Gotham Bold"/>
                <a:cs typeface="Gotham Bold"/>
                <a:sym typeface="Gotham Bold"/>
              </a:rPr>
              <a:t>Mr. U. SATYANARAYANA</a:t>
            </a:r>
          </a:p>
          <a:p>
            <a:pPr algn="ctr">
              <a:lnSpc>
                <a:spcPts val="4339"/>
              </a:lnSpc>
              <a:spcBef>
                <a:spcPct val="0"/>
              </a:spcBef>
            </a:pPr>
            <a:r>
              <a:rPr lang="en-US" sz="3099" b="1" dirty="0">
                <a:solidFill>
                  <a:srgbClr val="949393"/>
                </a:solidFill>
                <a:latin typeface="Gotham Bold"/>
                <a:ea typeface="Gotham Bold"/>
                <a:cs typeface="Gotham Bold"/>
                <a:sym typeface="Gotham Bold"/>
              </a:rPr>
              <a:t> M. Tech (PhD)</a:t>
            </a:r>
          </a:p>
        </p:txBody>
      </p:sp>
      <p:sp>
        <p:nvSpPr>
          <p:cNvPr id="19" name="TextBox 18">
            <a:extLst>
              <a:ext uri="{FF2B5EF4-FFF2-40B4-BE49-F238E27FC236}">
                <a16:creationId xmlns:a16="http://schemas.microsoft.com/office/drawing/2014/main" id="{C7103D6C-73AA-9F2F-6B0B-7DAD1F785ED8}"/>
              </a:ext>
            </a:extLst>
          </p:cNvPr>
          <p:cNvSpPr txBox="1"/>
          <p:nvPr/>
        </p:nvSpPr>
        <p:spPr>
          <a:xfrm>
            <a:off x="12929681" y="2667114"/>
            <a:ext cx="2456031" cy="769441"/>
          </a:xfrm>
          <a:prstGeom prst="rect">
            <a:avLst/>
          </a:prstGeom>
          <a:noFill/>
        </p:spPr>
        <p:txBody>
          <a:bodyPr wrap="square">
            <a:spAutoFit/>
          </a:bodyPr>
          <a:lstStyle/>
          <a:p>
            <a:r>
              <a:rPr lang="en-US" sz="4400" b="1" dirty="0">
                <a:solidFill>
                  <a:srgbClr val="000000"/>
                </a:solidFill>
                <a:latin typeface="Gotham Bold"/>
                <a:ea typeface="Gotham Bold"/>
                <a:cs typeface="Gotham Bold"/>
                <a:sym typeface="Gotham Bold"/>
              </a:rPr>
              <a:t>GUIDE</a:t>
            </a:r>
            <a:endParaRPr lang="en-US" sz="4400" dirty="0"/>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1280</Words>
  <Application>Microsoft Office PowerPoint</Application>
  <PresentationFormat>Custom</PresentationFormat>
  <Paragraphs>515</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Century Gothic Paneuropean Bold</vt:lpstr>
      <vt:lpstr>Times New Roman</vt:lpstr>
      <vt:lpstr>Arial</vt:lpstr>
      <vt:lpstr>Gotham</vt:lpstr>
      <vt:lpstr>Gotham Bold</vt:lpstr>
      <vt:lpstr>Arial Rounded MT Bold</vt:lpstr>
      <vt:lpstr>Calibri</vt:lpstr>
      <vt:lpstr>Century Gothic Paneuropean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MOHITH PPT CSP</dc:title>
  <cp:lastModifiedBy>Praveen Potteti</cp:lastModifiedBy>
  <cp:revision>18</cp:revision>
  <dcterms:created xsi:type="dcterms:W3CDTF">2006-08-16T00:00:00Z</dcterms:created>
  <dcterms:modified xsi:type="dcterms:W3CDTF">2025-05-24T09:38:54Z</dcterms:modified>
  <dc:identifier>DAGinExcw14</dc:identifier>
</cp:coreProperties>
</file>